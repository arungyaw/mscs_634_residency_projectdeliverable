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77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Introduce the full project and mention that this presentation summarizes all four deliverables.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Show that the presentation covers the whole project, not only Deliverable 4.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slide to explain the dataset and the main business problem.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Summarize what Deliverable 1 contributed: clean dataset and the first evidence of high-intent behavior.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seasonality and engagement. These EDA patterns connect to later models.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Describe the engineered features and the best regression result from Deliverable 2.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the final notebook metrics here. Emphasize that F1 matters because purchases are imbalanced.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the practical meaning of each cluster. This helps connect clustering to recommendations.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Clarify that session behavior was converted into Boolean items because the dataset was not a product basket dataset.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slide to show how the final project turns technical findings into responsible practice.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Close the presentation by summarizing the project journey and future improvements.
[Sources]
Project notebooks, README files, final report, and final notebook provided by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MSCS 634 Final Project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5087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Data Mining for Data-Driven Insights and Predictive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2359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813816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7955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</a:rPr>
              <a:t>Dataset: Online Shoppers Purchasing Intention Dataset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</a:rPr>
              <a:t>Course: MSCS 634 – Advanced Big Data and Data Mining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</a:rPr>
              <a:t>University of the Cumberlands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35240" y="3429000"/>
            <a:ext cx="37490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11827"/>
                </a:solidFill>
              </a:rPr>
              <a:t>Group Members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111827"/>
                </a:solidFill>
              </a:rPr>
              <a:t>Arun Gyawali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111827"/>
                </a:solidFill>
              </a:rPr>
              <a:t>Kashif Ali Syed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111827"/>
                </a:solidFill>
              </a:rPr>
              <a:t>Jiwon Jung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dirty="0">
                <a:solidFill>
                  <a:srgbClr val="111827"/>
                </a:solidFill>
              </a:rPr>
              <a:t>Hanuman Sai Chanukya Srinivas Chilamkuri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94360" y="4800600"/>
            <a:ext cx="2057400" cy="6858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487375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12,205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51846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Cleaned sessions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834640" y="4800600"/>
            <a:ext cx="1691640" cy="6858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48737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26080" y="51846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Attributes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709160" y="4800600"/>
            <a:ext cx="1828800" cy="6858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4873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15.63%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00600" y="5184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Purchase rate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663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148840" cy="1051560"/>
          </a:xfrm>
          <a:prstGeom prst="roundRect">
            <a:avLst>
              <a:gd name="adj" fmla="val 3478"/>
            </a:avLst>
          </a:prstGeom>
          <a:solidFill>
            <a:srgbClr val="EAF2FB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</a:rPr>
              <a:t>Deliverable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827"/>
                </a:solidFill>
              </a:rPr>
              <a:t>Data Collection, Cleaning, and EDA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953512" y="2167128"/>
            <a:ext cx="347472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56432" y="1737360"/>
            <a:ext cx="2148840" cy="1051560"/>
          </a:xfrm>
          <a:prstGeom prst="roundRect">
            <a:avLst>
              <a:gd name="adj" fmla="val 3478"/>
            </a:avLst>
          </a:prstGeom>
          <a:solidFill>
            <a:srgbClr val="EEF7ED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</a:rPr>
              <a:t>Deliverable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827"/>
                </a:solidFill>
              </a:rPr>
              <a:t>Feature Engineering and Regression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769864" y="2167128"/>
            <a:ext cx="347472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72784" y="1737360"/>
            <a:ext cx="2148840" cy="1051560"/>
          </a:xfrm>
          <a:prstGeom prst="roundRect">
            <a:avLst>
              <a:gd name="adj" fmla="val 3478"/>
            </a:avLst>
          </a:prstGeom>
          <a:solidFill>
            <a:srgbClr val="FFF4E6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</a:rPr>
              <a:t>Deliverable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827"/>
                </a:solidFill>
              </a:rPr>
              <a:t>Classification, Clustering, and Pattern Mining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586216" y="2167128"/>
            <a:ext cx="347472" cy="384048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89136" y="1737360"/>
            <a:ext cx="2148840" cy="1051560"/>
          </a:xfrm>
          <a:prstGeom prst="roundRect">
            <a:avLst>
              <a:gd name="adj" fmla="val 3478"/>
            </a:avLst>
          </a:prstGeom>
          <a:solidFill>
            <a:srgbClr val="F7F0FA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80576" y="18745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</a:rPr>
              <a:t>Deliverable 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98864" y="2212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11827"/>
                </a:solidFill>
              </a:rPr>
              <a:t>Final Insights, Recommendations, Report, and Presentation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005840" y="3657599"/>
            <a:ext cx="10058400" cy="236482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same cleaned dataset was used across all modeling phases for consistency.</a:t>
            </a:r>
            <a:endParaRPr lang="en-US" sz="1360" dirty="0"/>
          </a:p>
          <a:p>
            <a:pPr>
              <a:lnSpc>
                <a:spcPct val="200000"/>
              </a:lnSpc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Deliverable 1 prepared the data and identified important behavioral signals.</a:t>
            </a:r>
            <a:endParaRPr lang="en-US" sz="1360" dirty="0"/>
          </a:p>
          <a:p>
            <a:pPr>
              <a:lnSpc>
                <a:spcPct val="200000"/>
              </a:lnSpc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Deliverable 2 predicted product-page engagement time using regression.</a:t>
            </a:r>
            <a:endParaRPr lang="en-US" sz="1360" dirty="0"/>
          </a:p>
          <a:p>
            <a:pPr>
              <a:lnSpc>
                <a:spcPct val="200000"/>
              </a:lnSpc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Deliverable 3 predicted purchases, grouped sessions, and mined association rules.</a:t>
            </a:r>
            <a:endParaRPr lang="en-US" sz="1360" dirty="0"/>
          </a:p>
          <a:p>
            <a:pPr>
              <a:lnSpc>
                <a:spcPct val="200000"/>
              </a:lnSpc>
            </a:pPr>
            <a:r>
              <a:rPr lang="en-US" sz="13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Deliverable 4 connects all findings into recommendations and responsible-use guidance.</a:t>
            </a:r>
            <a:endParaRPr lang="en-US" sz="13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Business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represents one online shopping session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99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12,330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Original records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399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12,205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17099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Cleaned records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371600" cy="658368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99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17099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Features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1874520" cy="658368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3990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1,908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360" y="17099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Purchase sessions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275320" y="132588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1399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15.63%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17099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667085"/>
                </a:solidFill>
              </a:rPr>
              <a:t>Purchase rate</a:t>
            </a:r>
            <a:endParaRPr lang="en-US" sz="870" dirty="0"/>
          </a:p>
        </p:txBody>
      </p:sp>
      <p:pic>
        <p:nvPicPr>
          <p:cNvPr id="20" name="Image 0" descr="/mnt/data/d4_report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40" y="2331720"/>
            <a:ext cx="4622800" cy="2971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172200" y="2743200"/>
            <a:ext cx="5120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3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 goal: understand which browsing behaviors are connected with purchase intent.</a:t>
            </a:r>
            <a:endParaRPr lang="en-US" sz="138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Revenue is imbalanced because most sessions did not end in a purchase.</a:t>
            </a:r>
            <a:endParaRPr lang="en-US" sz="138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Evaluation therefore used F1 score, ROC-AUC, and confusion matrices along with accuracy.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1: Data Preparation and EDA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the data and finding the first purchasing signals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07492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Removed 125 exact duplicate records.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 missing values, negative values, or invalid rate values were found.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Capped extreme duration values at the 99th percentile instead of deleting sessions.</a:t>
            </a:r>
            <a:endParaRPr lang="en-US" sz="13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Treated Browser, OperatingSystems, Region, and TrafficType as categorical codes.</a:t>
            </a:r>
            <a:endParaRPr lang="en-US" sz="1300" dirty="0"/>
          </a:p>
        </p:txBody>
      </p:sp>
      <p:pic>
        <p:nvPicPr>
          <p:cNvPr id="6" name="Image 0" descr="/mnt/data/d4_report_image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234440"/>
            <a:ext cx="4828032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434840"/>
            <a:ext cx="10607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EDA finding: PageValues was the strongest positive signal for Revenue, while BounceRates and ExitRates were negative signals.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1: Seasonal and Engagement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showed when and how purchase behavior changed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d4_report_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325880"/>
            <a:ext cx="536448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1600199"/>
            <a:ext cx="4754880" cy="398709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November had the highest conversion rate, followed by October and September.</a:t>
            </a:r>
            <a:endParaRPr lang="en-US" sz="134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Purchasing sessions had more product-related pages and longer product-related duration.</a:t>
            </a:r>
            <a:endParaRPr lang="en-US" sz="134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Purchasing sessions also had lower bounce and exit behavior than non-purchase sessions.</a:t>
            </a:r>
            <a:endParaRPr lang="en-US" sz="134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3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These findings guided later feature engineering and model evaluation.</a:t>
            </a:r>
            <a:endParaRPr lang="en-US" sz="13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2: Feature Engineering and Regression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predicted ProductRelated_Duration as an engagement outcome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48640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289304"/>
            <a:ext cx="534009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Feature  |  Meaning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Total_Pages  |  Total Administrative, Informational, and ProductRelated pages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NonProduct_Duration  |  Combined Administrative and Informational duration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Avg_NonProduct_Duration_Per_Page  |  Average time spent per non-product page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BounceExitRatio  |  BounceRates divided by ExitRates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Engagement_Score  |  ProductRelated page count multiplied by PageValues</a:t>
            </a:r>
            <a:endParaRPr lang="en-US" sz="850" dirty="0"/>
          </a:p>
        </p:txBody>
      </p:sp>
      <p:pic>
        <p:nvPicPr>
          <p:cNvPr id="7" name="Image 0" descr="/mnt/data/d4_report_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120640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160520"/>
            <a:ext cx="10515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Random Forest was the best regression model: test R² = 0.7506 and RMSE = 784.02 seconds.</a:t>
            </a:r>
            <a:endParaRPr lang="en-US" sz="131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Cross-validation R² was 0.7702, which was stronger than the linear models.</a:t>
            </a:r>
            <a:endParaRPr lang="en-US" sz="131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result shows that engagement behavior contains non-linear patterns.</a:t>
            </a:r>
            <a:endParaRPr lang="en-US" sz="13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3: Classification and Tuning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whether a session resulted in a purchase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d4_report_image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20" y="1234440"/>
            <a:ext cx="552704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17320"/>
            <a:ext cx="461772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11112" y="1472184"/>
            <a:ext cx="44714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 |  Accuracy  |  F1  |  ROC-AUC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 |  0.8484  |  0.6255  |  0.9084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Random Forest  |  0.8751  |  0.6745  |  0.9341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6583680" y="2971800"/>
            <a:ext cx="4617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sz="12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Purchases were the minority class, so balanced class weights and F1 score were important.</a:t>
            </a:r>
            <a:endParaRPr lang="en-US" sz="1270" dirty="0"/>
          </a:p>
          <a:p>
            <a:pPr>
              <a:lnSpc>
                <a:spcPct val="200000"/>
              </a:lnSpc>
            </a:pPr>
            <a:r>
              <a:rPr lang="en-US" sz="12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tuned Random Forest was selected because it had the best F1 and ROC-AUC.</a:t>
            </a:r>
            <a:endParaRPr lang="en-US" sz="1270" dirty="0"/>
          </a:p>
          <a:p>
            <a:pPr>
              <a:lnSpc>
                <a:spcPct val="200000"/>
              </a:lnSpc>
            </a:pPr>
            <a:r>
              <a:rPr lang="en-US" sz="12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PageValues and Engagement_Score were the strongest model indicators.</a:t>
            </a:r>
            <a:endParaRPr lang="en-US" sz="12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3: Clustering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separated browsing sessions into three useful groups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d4_report_image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3022"/>
            <a:ext cx="5212080" cy="29317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508760"/>
            <a:ext cx="525780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36792" y="1563624"/>
            <a:ext cx="511149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 |  Sessions  |  Share  |  Purchase Rate  |  Meaning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|  9,430  |  77.3%  |  14.7%  |  Typical browsing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|  920  |  7.5%  |  0.7%  |  Quick-exit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|  1,855  |  15.2%  |  27.8%  |  Highly engaged</a:t>
            </a:r>
            <a:endParaRPr lang="en-US" sz="910" dirty="0"/>
          </a:p>
        </p:txBody>
      </p:sp>
      <p:sp>
        <p:nvSpPr>
          <p:cNvPr id="8" name="Text 5"/>
          <p:cNvSpPr/>
          <p:nvPr/>
        </p:nvSpPr>
        <p:spPr>
          <a:xfrm>
            <a:off x="6355080" y="3246119"/>
            <a:ext cx="4892040" cy="23153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Three clusters had the best silhouette score of 0.4885.</a:t>
            </a:r>
            <a:endParaRPr lang="en-US" sz="13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quick-exit group rarely purchased.</a:t>
            </a:r>
            <a:endParaRPr lang="en-US" sz="13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highly engaged group had the highest purchase rate and strongest product-page activity.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3: Association Rule Mining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rules identified high-intent purchase patterns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36092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AAB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335024"/>
            <a:ext cx="721461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  |  Support  |  Confidence  |  Lift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Bounce + Low Exit + Positive PageValues  |  0.0738  |  0.6800  |  4.3498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Bounce + Positive PageValues  |  0.0818  |  0.6757  |  4.3222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Product Duration + Low Bounce + Positive PageValues  |  0.0560  |  0.6170  |  3.9467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Exit + Positive PageValues  |  0.1014  |  0.6126  |  3.9184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PageValues  |  0.1260  |  0.5634  |  3.6037</a:t>
            </a:r>
            <a:endParaRPr lang="en-US" sz="820" dirty="0"/>
          </a:p>
        </p:txBody>
      </p:sp>
      <p:pic>
        <p:nvPicPr>
          <p:cNvPr id="7" name="Image 0" descr="/mnt/data/d4_report_image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477328"/>
            <a:ext cx="3246120" cy="20288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59"/>
            <a:ext cx="10424160" cy="20763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Apriori identified 161 frequent itemsets.</a:t>
            </a:r>
            <a:endParaRPr lang="en-US" sz="131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strongest purchase rule had lift = 4.3498.</a:t>
            </a:r>
            <a:endParaRPr lang="en-US" sz="131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strongest rules combined positive PageValues with low bounce and low exit behavior.</a:t>
            </a:r>
            <a:endParaRPr lang="en-US" sz="131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Rules show useful co-occurrence patterns, not guaranteed causes.</a:t>
            </a:r>
            <a:endParaRPr lang="en-US" sz="13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4: Final Recommendations and Ethics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guidance was based on findings across the full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Recommendations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52578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PageValues, Engagement_Score, and ExitRates as high-intent signals.</a:t>
            </a:r>
            <a:endParaRPr lang="en-US" sz="126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the tuned Random Forest as a decision-support tool for likely purchase sessions.</a:t>
            </a:r>
            <a:endParaRPr lang="en-US" sz="126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offers, reminders, or assistance for highly engaged sessions.</a:t>
            </a:r>
            <a:endParaRPr lang="en-US" sz="126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 landing pages and product discovery for quick-exit sessions.</a:t>
            </a:r>
            <a:endParaRPr lang="en-US" sz="126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Retrain models over time because online behavior changes.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Ethical Considerations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50749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browsing data using access controls and data minimization.</a:t>
            </a:r>
            <a:endParaRPr lang="en-US" sz="126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unnecessary personal information when session-level data is enough.</a:t>
            </a:r>
            <a:endParaRPr lang="en-US" sz="126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 model performance across visitor groups to reduce unfair outcomes.</a:t>
            </a:r>
            <a:endParaRPr lang="en-US" sz="126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predictions as probabilities, not guarantees.</a:t>
            </a:r>
            <a:endParaRPr lang="en-US" sz="126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2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treat feature importance or rules as proof of causation.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 and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shows how data mining can support practical e-commerce decisions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D6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Final Takeaways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52578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lnSpc>
                <a:spcPct val="26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Purchase sessions had stronger engagement and lower abandonment behavior.</a:t>
            </a:r>
            <a:endParaRPr lang="en-US" sz="1300" dirty="0"/>
          </a:p>
          <a:p>
            <a:pPr marL="0" indent="0">
              <a:lnSpc>
                <a:spcPct val="26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Random Forest performed best for both regression and classification.</a:t>
            </a:r>
            <a:endParaRPr lang="en-US" sz="1300" dirty="0"/>
          </a:p>
          <a:p>
            <a:pPr marL="0" indent="0">
              <a:lnSpc>
                <a:spcPct val="26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Clustering revealed typical browsing, quick-exit, and highly engaged session groups.</a:t>
            </a:r>
            <a:endParaRPr lang="en-US" sz="1300" dirty="0"/>
          </a:p>
          <a:p>
            <a:pPr marL="0" indent="0">
              <a:lnSpc>
                <a:spcPct val="26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Association rules confirmed that positive PageValues with low bounce/exit behavior is a strong high-intent pattern.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Future 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5074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product-level data for traditional market basket analysis.</a:t>
            </a:r>
            <a:endParaRPr lang="en-US" sz="13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Tune classification thresholds based on business costs.</a:t>
            </a:r>
            <a:endParaRPr lang="en-US" sz="13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Gradient Boosting and other advanced methods.</a:t>
            </a:r>
            <a:endParaRPr lang="en-US" sz="13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time-based validation to measure model drift.</a:t>
            </a:r>
            <a:endParaRPr lang="en-US" sz="13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Apply explainability methods such as SHAP for transparency.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52120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1516</Words>
  <Application>Microsoft Office PowerPoint</Application>
  <PresentationFormat>Widescreen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the Cumberlands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Mining for Data-Driven Insights and Predictive Modeling</dc:title>
  <dc:subject>MSCS 634 Final Project Presentation</dc:subject>
  <dc:creator>Kashif Ali Syed</dc:creator>
  <cp:lastModifiedBy>Kashif Ali Syed</cp:lastModifiedBy>
  <cp:revision>2</cp:revision>
  <dcterms:created xsi:type="dcterms:W3CDTF">2026-07-25T15:19:55Z</dcterms:created>
  <dcterms:modified xsi:type="dcterms:W3CDTF">2026-07-25T15:31:12Z</dcterms:modified>
</cp:coreProperties>
</file>